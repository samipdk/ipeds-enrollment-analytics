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1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6-Year Grad Rate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B3-4FB1-B438-7AF5DDAD24B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6B3-4FB1-B438-7AF5DDAD24BB}"/>
              </c:ext>
            </c:extLst>
          </c:dPt>
          <c:dPt>
            <c:idx val="2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B3-4FB1-B438-7AF5DDAD24BB}"/>
              </c:ext>
            </c:extLst>
          </c:dPt>
          <c:dPt>
            <c:idx val="3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B3-4FB1-B438-7AF5DDAD24BB}"/>
              </c:ext>
            </c:extLst>
          </c:dPt>
          <c:dPt>
            <c:idx val="4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6B3-4FB1-B438-7AF5DDAD24BB}"/>
              </c:ext>
            </c:extLst>
          </c:dPt>
          <c:dPt>
            <c:idx val="5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6B3-4FB1-B438-7AF5DDAD24BB}"/>
              </c:ext>
            </c:extLst>
          </c:dPt>
          <c:dPt>
            <c:idx val="6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6B3-4FB1-B438-7AF5DDAD24BB}"/>
              </c:ext>
            </c:extLst>
          </c:dPt>
          <c:dPt>
            <c:idx val="7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6B3-4FB1-B438-7AF5DDAD24BB}"/>
              </c:ext>
            </c:extLst>
          </c:dPt>
          <c:dPt>
            <c:idx val="8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6B3-4FB1-B438-7AF5DDAD24BB}"/>
              </c:ext>
            </c:extLst>
          </c:dPt>
          <c:dPt>
            <c:idx val="9"/>
            <c:invertIfNegative val="0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6B3-4FB1-B438-7AF5DDAD24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 Air Force Academy</c:v>
                </c:pt>
                <c:pt idx="1">
                  <c:v>Colorado School of Mines</c:v>
                </c:pt>
                <c:pt idx="2">
                  <c:v>Iowa State Univ.</c:v>
                </c:pt>
                <c:pt idx="3">
                  <c:v>Univ. of Oklahoma</c:v>
                </c:pt>
                <c:pt idx="4">
                  <c:v>Univ. of Missouri-Columbia</c:v>
                </c:pt>
                <c:pt idx="5">
                  <c:v>University of Iowa</c:v>
                </c:pt>
                <c:pt idx="6">
                  <c:v>Univ. of Colorado Boulder</c:v>
                </c:pt>
                <c:pt idx="7">
                  <c:v>Kansas State Univ.</c:v>
                </c:pt>
                <c:pt idx="8">
                  <c:v>University of Kansas</c:v>
                </c:pt>
                <c:pt idx="9">
                  <c:v>Truman State Univ.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87.5</c:v>
                </c:pt>
                <c:pt idx="1">
                  <c:v>81.7</c:v>
                </c:pt>
                <c:pt idx="2">
                  <c:v>75.3</c:v>
                </c:pt>
                <c:pt idx="3">
                  <c:v>75.3</c:v>
                </c:pt>
                <c:pt idx="4">
                  <c:v>74.900000000000006</c:v>
                </c:pt>
                <c:pt idx="5">
                  <c:v>74.599999999999994</c:v>
                </c:pt>
                <c:pt idx="6">
                  <c:v>74.2</c:v>
                </c:pt>
                <c:pt idx="7">
                  <c:v>71.099999999999994</c:v>
                </c:pt>
                <c:pt idx="8">
                  <c:v>68.8</c:v>
                </c:pt>
                <c:pt idx="9">
                  <c:v>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6B3-4FB1-B438-7AF5DDAD24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2914</c:v>
                </c:pt>
                <c:pt idx="1">
                  <c:v>2623</c:v>
                </c:pt>
                <c:pt idx="2">
                  <c:v>2576</c:v>
                </c:pt>
                <c:pt idx="3">
                  <c:v>2652</c:v>
                </c:pt>
                <c:pt idx="4">
                  <c:v>2978</c:v>
                </c:pt>
                <c:pt idx="5">
                  <c:v>2923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D88-40A3-AD64-3579583BFD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5316</c:v>
                </c:pt>
                <c:pt idx="1">
                  <c:v>4828</c:v>
                </c:pt>
                <c:pt idx="2">
                  <c:v>4994</c:v>
                </c:pt>
                <c:pt idx="3">
                  <c:v>5339</c:v>
                </c:pt>
                <c:pt idx="4">
                  <c:v>5422</c:v>
                </c:pt>
                <c:pt idx="5">
                  <c:v>5419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D88-40A3-AD64-3579583BFD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KS</c:v>
                </c:pt>
              </c:strCache>
            </c:strRef>
          </c:tx>
          <c:spPr>
            <a:ln w="31750" cap="flat">
              <a:solidFill>
                <a:srgbClr val="EF9F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2886</c:v>
                </c:pt>
                <c:pt idx="1">
                  <c:v>2527</c:v>
                </c:pt>
                <c:pt idx="2">
                  <c:v>2537</c:v>
                </c:pt>
                <c:pt idx="3">
                  <c:v>2599</c:v>
                </c:pt>
                <c:pt idx="4">
                  <c:v>2932</c:v>
                </c:pt>
                <c:pt idx="5">
                  <c:v>3015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D88-40A3-AD64-3579583BFD8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</c:v>
                </c:pt>
              </c:strCache>
            </c:strRef>
          </c:tx>
          <c:spPr>
            <a:ln w="31750" cap="flat">
              <a:solidFill>
                <a:srgbClr val="2E5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2571</c:v>
                </c:pt>
                <c:pt idx="1">
                  <c:v>2420</c:v>
                </c:pt>
                <c:pt idx="2">
                  <c:v>2381</c:v>
                </c:pt>
                <c:pt idx="3">
                  <c:v>2515</c:v>
                </c:pt>
                <c:pt idx="4">
                  <c:v>2638</c:v>
                </c:pt>
                <c:pt idx="5">
                  <c:v>2725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FD88-40A3-AD64-3579583BFD8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</c:v>
                </c:pt>
              </c:strCache>
            </c:strRef>
          </c:tx>
          <c:spPr>
            <a:ln w="3175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2171</c:v>
                </c:pt>
                <c:pt idx="1">
                  <c:v>2195</c:v>
                </c:pt>
                <c:pt idx="2">
                  <c:v>2177</c:v>
                </c:pt>
                <c:pt idx="3">
                  <c:v>2137</c:v>
                </c:pt>
                <c:pt idx="4">
                  <c:v>1868</c:v>
                </c:pt>
                <c:pt idx="5">
                  <c:v>1878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FD88-40A3-AD64-3579583BFD8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OK</c:v>
                </c:pt>
              </c:strCache>
            </c:strRef>
          </c:tx>
          <c:spPr>
            <a:ln w="31750" cap="flat">
              <a:solidFill>
                <a:srgbClr val="8888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1873</c:v>
                </c:pt>
                <c:pt idx="1">
                  <c:v>1858</c:v>
                </c:pt>
                <c:pt idx="2">
                  <c:v>1772</c:v>
                </c:pt>
                <c:pt idx="3">
                  <c:v>1867</c:v>
                </c:pt>
                <c:pt idx="4">
                  <c:v>1856</c:v>
                </c:pt>
                <c:pt idx="5">
                  <c:v>2023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FD88-40A3-AD64-3579583BFD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Grad Rate (%)</c:v>
                </c:pt>
              </c:strCache>
            </c:strRef>
          </c:tx>
          <c:spPr>
            <a:solidFill>
              <a:srgbClr val="2E5F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20,000+</c:v>
                </c:pt>
                <c:pt idx="1">
                  <c:v>10K–19,999</c:v>
                </c:pt>
                <c:pt idx="2">
                  <c:v>5,000–9,999</c:v>
                </c:pt>
                <c:pt idx="3">
                  <c:v>1,000–4,999</c:v>
                </c:pt>
                <c:pt idx="4">
                  <c:v>Under 1,000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65.8</c:v>
                </c:pt>
                <c:pt idx="1">
                  <c:v>40.799999999999997</c:v>
                </c:pt>
                <c:pt idx="2">
                  <c:v>45.1</c:v>
                </c:pt>
                <c:pt idx="3">
                  <c:v>39.6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C4-4920-B0EF-B01D72088A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Retention Rate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20,000+</c:v>
                </c:pt>
                <c:pt idx="1">
                  <c:v>10K–19,999</c:v>
                </c:pt>
                <c:pt idx="2">
                  <c:v>5,000–9,999</c:v>
                </c:pt>
                <c:pt idx="3">
                  <c:v>1,000–4,999</c:v>
                </c:pt>
                <c:pt idx="4">
                  <c:v>Under 1,000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86.9</c:v>
                </c:pt>
                <c:pt idx="1">
                  <c:v>74.3</c:v>
                </c:pt>
                <c:pt idx="2">
                  <c:v>68.2</c:v>
                </c:pt>
                <c:pt idx="3">
                  <c:v>66.400000000000006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C4-4920-B0EF-B01D72088A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5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Universities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2724912"/>
            <a:ext cx="32004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public universities  ·  6 Midwest states  ·  2019–2024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trends  ·  Retention rates  ·  6-year graduation outcomes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Samip Thakuri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201168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SOURCE: IPEDS / NCES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4315968"/>
            <a:ext cx="2194560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4315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TOOLS: PYTHON · SQL · POWER BI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EXECUTIVE 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Findings 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Midwest public universities, 2019–2024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59"/>
            <a:ext cx="4251960" cy="882335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2519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" y="1865376"/>
            <a:ext cx="329184" cy="329184"/>
          </a:xfrm>
          <a:prstGeom prst="lin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865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leads, Oklahoma lags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2084832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averages 72.6% graduation rate — 37.5 points above Oklahoma, the region's lowest performer. Every top-10 institution has retention above 85%.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4251960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98064"/>
            <a:ext cx="329184" cy="329184"/>
          </a:xfrm>
          <a:prstGeom prst="lin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8254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in enrollment crisis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113532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Missouri institutions lost 36–53% of students since 2019. Missouri Western declined 53.3% — the steepest fall in the region.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02735"/>
            <a:ext cx="4251960" cy="966357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4251960" cy="502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" y="3730752"/>
            <a:ext cx="329184" cy="329184"/>
          </a:xfrm>
          <a:prstGeom prst="lin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" y="3730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7581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resilience — outcomes held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4037137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dropped 7.8% during COVID but graduation rates actually improved (44.9→45.8%). The region absorbed the shock without outcome collapse.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737360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737360"/>
            <a:ext cx="4251960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28616" y="1865376"/>
            <a:ext cx="329184" cy="329184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28616" y="1865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drives outcomes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8616" y="2119122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universities achieve 65.8% grad rates vs 39.6% at small institutions — a 26-point gap driven by student support resources, not class size.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670048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00600" y="2670048"/>
            <a:ext cx="4251960" cy="502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28616" y="2798064"/>
            <a:ext cx="329184" cy="329184"/>
          </a:xfrm>
          <a:prstGeom prst="lin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28616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28254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predicts everything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56632" y="3102723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 institution retains 85%+ of students. Retention is the single strongest leading indicator of 6-year graduation success.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&amp; Data Pipeline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IPEDS files to interactive dashboard — a fully reproducible analytical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393192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3931920" cy="502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SCOPE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0939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4-year universities analyzed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4963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states (KS, MO, NE, OK, IA, CO)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89864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panel data (2019–2024)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30098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raw CSV files downloaded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675888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surveys: HD + EF-D + GR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410565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 via SQL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664208"/>
            <a:ext cx="42062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664208"/>
            <a:ext cx="420624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066544"/>
            <a:ext cx="777240" cy="2743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0665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ETL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59552" y="20939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— load 18 IPEDS CSVs, filter, merge → SQLite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532888"/>
            <a:ext cx="77724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5328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 SQL EDA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59552" y="25603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— 6 business questions with documented findings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999232"/>
            <a:ext cx="7772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2999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Modeling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59552" y="30266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Random Forest — graduation rate drivers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65576"/>
            <a:ext cx="777240" cy="2743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46557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 Dashboard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59552" y="34930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3-page interactive dashboard, published publicly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931920"/>
            <a:ext cx="7772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9319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Report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9552" y="39593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 + PowerPoint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universities lead on graduation rates?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Midwest public universities by 6-year graduation rate (2024)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664208"/>
          <a:ext cx="5577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664208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26480" y="1664208"/>
            <a:ext cx="54864" cy="8412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54496" y="1737360"/>
            <a:ext cx="2560320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54496" y="2168957"/>
            <a:ext cx="2560320" cy="21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grad rate — Air Force Academy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4496" y="237085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· Rural · 7:1 student-faculty ratio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59689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26480" y="2596896"/>
            <a:ext cx="54864" cy="8412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54496" y="2670048"/>
            <a:ext cx="2560320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54496" y="3101645"/>
            <a:ext cx="2560320" cy="21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 ALL top 10 institutions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54496" y="330354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universal predictor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3529584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6480" y="3529584"/>
            <a:ext cx="54864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54496" y="3602736"/>
            <a:ext cx="2560320" cy="427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54496" y="4023360"/>
            <a:ext cx="256032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institutions are in Colorado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54496" y="422087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leads by state avg at 72.6%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4636008"/>
            <a:ext cx="841248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Every top-10 institution retains over 85% of students. Size and location vary — but keeping students is what drives graduation.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Crisis: Who is losing students?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trends and the institutions hit hardest (2019–2024)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664208"/>
          <a:ext cx="50292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343400"/>
            <a:ext cx="502920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4361688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is the only state where enrollment has not recovered to pre-COVID levels — outcomes are declining with it.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664208"/>
            <a:ext cx="320040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1664208"/>
            <a:ext cx="320040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23560" y="16733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 5 ENROLLMENT DECLINERS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084832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23560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21031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Western State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89320" y="2276856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092440" y="21214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-53.3%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23560" y="2505456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623560" y="2505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89320" y="252374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Harris-Stowe State Univ.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89320" y="269748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92440" y="254203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-42.4%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23560" y="2926080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62356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89320" y="294436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University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89320" y="3118104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092440" y="29626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-39.4%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23560" y="3346704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62356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89320" y="33649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Hays State Univ.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89320" y="3538728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092440" y="33832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-38.9%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623560" y="3767328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62356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89320" y="378561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 State College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89320" y="395935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092440" y="380390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-38.6%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577840" y="4343400"/>
            <a:ext cx="3200400" cy="256032"/>
          </a:xfrm>
          <a:prstGeom prst="rect">
            <a:avLst/>
          </a:prstGeom>
          <a:solidFill>
            <a:srgbClr val="FFE4E4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623560" y="436168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hardest-hit institutions are in Missouri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Impact: Did outcomes recover?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enrollment, retention, and graduation rates across three periods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65176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651760" cy="40233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(2019)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6-Yr Grad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664208"/>
            <a:ext cx="265176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664208"/>
            <a:ext cx="2651760" cy="40233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Years (2020–21)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76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2542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3858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6-Yr Grad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664208"/>
            <a:ext cx="265176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1664208"/>
            <a:ext cx="2651760" cy="40233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(2022–24)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176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72200" y="2542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7220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 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72200" y="3858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6-Yr Grad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4531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Enrollment dropped 7.8% during COVID but has recovered. Graduation rates actually IMPROVED during COVID — students who stayed enrolled completed at higher rates.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4 &amp;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Retention: The Hidden Drivers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institution size and retention rates determine graduation outcomes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664208"/>
          <a:ext cx="50292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664208"/>
            <a:ext cx="320040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77840" y="1664208"/>
            <a:ext cx="32004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23560" y="16733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RETENTION BY STATE (2024)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2066544"/>
            <a:ext cx="329184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23560" y="206654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16752" y="21031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2121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82–90%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23560" y="2432304"/>
            <a:ext cx="329184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23560" y="243230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16752" y="24688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68–86%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23560" y="2798064"/>
            <a:ext cx="329184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23560" y="279806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16752" y="28346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54–100%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23560" y="3163824"/>
            <a:ext cx="329184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623560" y="316382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16752" y="32004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0" y="3218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63–86%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623560" y="3529584"/>
            <a:ext cx="329184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23560" y="352958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16752" y="35661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0" y="3584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0–100%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623560" y="3895344"/>
            <a:ext cx="329184" cy="2926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623560" y="389534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OK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16752" y="39319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58000" y="3950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54–90%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57200" y="44531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universities outperform small ones by 26pp on grad rate — not because of lower student-faculty ratios, but because of stronger student support infrastructure.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5C81D-8726-080F-D01D-A9F738A3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59536"/>
            <a:ext cx="7772400" cy="4183278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C15BEC1A-3066-2BBF-59B9-9C1B9B9B2B79}"/>
              </a:ext>
            </a:extLst>
          </p:cNvPr>
          <p:cNvSpPr/>
          <p:nvPr/>
        </p:nvSpPr>
        <p:spPr>
          <a:xfrm>
            <a:off x="457200" y="128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SHOWCASE</a:t>
            </a:r>
            <a:endParaRPr lang="en-US" sz="9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6B8869-7232-8D06-B6C4-FB4AEFFA901B}"/>
              </a:ext>
            </a:extLst>
          </p:cNvPr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Regional Overview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3818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795AC-5859-9F94-99C7-928C2E95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CD7142AD-4F18-15BA-8840-E304F20E615D}"/>
              </a:ext>
            </a:extLst>
          </p:cNvPr>
          <p:cNvSpPr/>
          <p:nvPr/>
        </p:nvSpPr>
        <p:spPr>
          <a:xfrm>
            <a:off x="457200" y="128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SHOWCASE</a:t>
            </a:r>
            <a:endParaRPr lang="en-US" sz="9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EE68217-6A67-C37C-09A8-CFB54F78DECD}"/>
              </a:ext>
            </a:extLst>
          </p:cNvPr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Enrollment Trends</a:t>
            </a: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8B821-2CFD-4098-1C26-A83B19895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64791"/>
            <a:ext cx="8161020" cy="425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6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interventions based on the analysis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416052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" y="1792224"/>
            <a:ext cx="347472" cy="347472"/>
          </a:xfrm>
          <a:prstGeom prst="lin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8196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student retention infrastructure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219456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 institution retains 85%+ of students. States with below-average retention (OK 66.9%, CO 69.9%) should prioritize advising, mental health, and financial aid retention programs — not just recruitment.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6420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664208"/>
            <a:ext cx="4160520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82896" y="1792224"/>
            <a:ext cx="347472" cy="347472"/>
          </a:xfrm>
          <a:prstGeom prst="lin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2896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18196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intervention for Missouri institutions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219456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Western, Harris-Stowe, and Lincoln University have lost 40–53% of students. State policy must address this structural decline — through mergers, program realignment, or targeted emergency funding.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172968"/>
            <a:ext cx="4160520" cy="502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" y="3300984"/>
            <a:ext cx="347472" cy="347472"/>
          </a:xfrm>
          <a:prstGeom prst="lin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" y="3300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3328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small institution capacity building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370332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institutions (under 5,000 students) achieve only 39.6% grad rates vs 65.8% for large universities. Resource-sharing partnerships and shared services models could close the gap significantly.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7296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3172968"/>
            <a:ext cx="4160520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82896" y="3300984"/>
            <a:ext cx="347472" cy="347472"/>
          </a:xfrm>
          <a:prstGeom prst="lin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82896" y="3300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1808" y="3328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Nebraska's enrollment trajectory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2896" y="370332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is the only state where post-COVID enrollment has not recovered. A statewide enrollment strategy targeting adult learners and workforce-aligned programs is needed before decline becomes irreversible.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32004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00584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drives graduation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2527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institution in the top 10 retains 85%+ of students. Fix retention first — graduation follows.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00784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7190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needs intervention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65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institutions lost 36–53% of entering students since 2019. This is structural, not a COVID artifact.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43230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resilience is real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26791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recovered. Graduation rates improved during COVID. The region proved it can adapt under pressure.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31455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is the regional benchmark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339242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metrics — 72.6% grad rate, 86.7% retention, zero at-risk institutions.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858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gap is a resource 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410565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26-point graduation rate gap between large and small universities reflects unequal resources, not student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8CA3C8"/>
                </a:solidFill>
              </a:rPr>
              <a:t>Data: IPEDS / NCES (2019–2024)  ·  Tools: Python · SQL · Power BI  ·  Samip Thakuri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1084</Words>
  <Application>Microsoft Office PowerPoint</Application>
  <PresentationFormat>On-screen Show (16:9)</PresentationFormat>
  <Paragraphs>188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Enrollment &amp; Outcome Intelligence — Midwest Universities</dc:title>
  <dc:subject>PptxGenJS Presentation</dc:subject>
  <dc:creator>Samip Thakuri</dc:creator>
  <cp:lastModifiedBy>samip thakuri</cp:lastModifiedBy>
  <cp:revision>6</cp:revision>
  <dcterms:created xsi:type="dcterms:W3CDTF">2026-03-31T17:54:53Z</dcterms:created>
  <dcterms:modified xsi:type="dcterms:W3CDTF">2026-03-31T18:04:13Z</dcterms:modified>
</cp:coreProperties>
</file>