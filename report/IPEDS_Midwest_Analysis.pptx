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6-Year Grad Rate (%)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5FA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24B4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E5FA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E5FA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E5FA3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E5FA3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E5FA3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2E5FA3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US Air Force Academy</c:v>
                  </c:pt>
                  <c:pt idx="1">
                    <c:v>Colorado School of Mines</c:v>
                  </c:pt>
                  <c:pt idx="2">
                    <c:v>Iowa State Univ.</c:v>
                  </c:pt>
                  <c:pt idx="3">
                    <c:v>Univ. of Oklahoma</c:v>
                  </c:pt>
                  <c:pt idx="4">
                    <c:v>Univ. of Missouri-Columbia</c:v>
                  </c:pt>
                  <c:pt idx="5">
                    <c:v>University of Iowa</c:v>
                  </c:pt>
                  <c:pt idx="6">
                    <c:v>Univ. of Colorado Boulder</c:v>
                  </c:pt>
                  <c:pt idx="7">
                    <c:v>Kansas State Univ.</c:v>
                  </c:pt>
                  <c:pt idx="8">
                    <c:v>University of Kansas</c:v>
                  </c:pt>
                  <c:pt idx="9">
                    <c:v>Truman State Univ.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87.5</c:v>
                </c:pt>
                <c:pt idx="1">
                  <c:v>81.7</c:v>
                </c:pt>
                <c:pt idx="2">
                  <c:v>75.3</c:v>
                </c:pt>
                <c:pt idx="3">
                  <c:v>75.3</c:v>
                </c:pt>
                <c:pt idx="4">
                  <c:v>74.9</c:v>
                </c:pt>
                <c:pt idx="5">
                  <c:v>74.6</c:v>
                </c:pt>
                <c:pt idx="6">
                  <c:v>74.2</c:v>
                </c:pt>
                <c:pt idx="7">
                  <c:v>71.1</c:v>
                </c:pt>
                <c:pt idx="8">
                  <c:v>68.8</c:v>
                </c:pt>
                <c:pt idx="9">
                  <c:v>68.5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</c:v>
                </c:pt>
              </c:strCache>
            </c:strRef>
          </c:tx>
          <c:spPr>
            <a:solidFill>
              <a:srgbClr val="065A82"/>
            </a:solidFill>
            <a:ln w="31750" cap="flat">
              <a:solidFill>
                <a:srgbClr val="065A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2914</c:v>
                </c:pt>
                <c:pt idx="1">
                  <c:v>2623</c:v>
                </c:pt>
                <c:pt idx="2">
                  <c:v>2576</c:v>
                </c:pt>
                <c:pt idx="3">
                  <c:v>2652</c:v>
                </c:pt>
                <c:pt idx="4">
                  <c:v>2978</c:v>
                </c:pt>
                <c:pt idx="5">
                  <c:v>2923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IA</c:v>
                </c:pt>
              </c:strCache>
            </c:strRef>
          </c:tx>
          <c:spPr>
            <a:solidFill>
              <a:srgbClr val="1D9E75"/>
            </a:solidFill>
            <a:ln w="31750" cap="flat">
              <a:solidFill>
                <a:srgbClr val="1D9E7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D9E75"/>
              </a:solidFill>
              <a:ln w="9525" cap="flat">
                <a:solidFill>
                  <a:srgbClr val="1D9E7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5316</c:v>
                </c:pt>
                <c:pt idx="1">
                  <c:v>4828</c:v>
                </c:pt>
                <c:pt idx="2">
                  <c:v>4994</c:v>
                </c:pt>
                <c:pt idx="3">
                  <c:v>5339</c:v>
                </c:pt>
                <c:pt idx="4">
                  <c:v>5422</c:v>
                </c:pt>
                <c:pt idx="5">
                  <c:v>5419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KS</c:v>
                </c:pt>
              </c:strCache>
            </c:strRef>
          </c:tx>
          <c:spPr>
            <a:solidFill>
              <a:srgbClr val="EF9F27"/>
            </a:solidFill>
            <a:ln w="31750" cap="flat">
              <a:solidFill>
                <a:srgbClr val="EF9F2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F9F27"/>
              </a:solidFill>
              <a:ln w="9525" cap="flat">
                <a:solidFill>
                  <a:srgbClr val="EF9F2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2886</c:v>
                </c:pt>
                <c:pt idx="1">
                  <c:v>2527</c:v>
                </c:pt>
                <c:pt idx="2">
                  <c:v>2537</c:v>
                </c:pt>
                <c:pt idx="3">
                  <c:v>2599</c:v>
                </c:pt>
                <c:pt idx="4">
                  <c:v>2932</c:v>
                </c:pt>
                <c:pt idx="5">
                  <c:v>3015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MO</c:v>
                </c:pt>
              </c:strCache>
            </c:strRef>
          </c:tx>
          <c:spPr>
            <a:solidFill>
              <a:srgbClr val="2E5FA3"/>
            </a:solidFill>
            <a:ln w="31750" cap="flat">
              <a:solidFill>
                <a:srgbClr val="2E5FA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5FA3"/>
              </a:solidFill>
              <a:ln w="9525" cap="flat">
                <a:solidFill>
                  <a:srgbClr val="2E5FA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2571</c:v>
                </c:pt>
                <c:pt idx="1">
                  <c:v>2420</c:v>
                </c:pt>
                <c:pt idx="2">
                  <c:v>2381</c:v>
                </c:pt>
                <c:pt idx="3">
                  <c:v>2515</c:v>
                </c:pt>
                <c:pt idx="4">
                  <c:v>2638</c:v>
                </c:pt>
                <c:pt idx="5">
                  <c:v>2725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NE</c:v>
                </c:pt>
              </c:strCache>
            </c:strRef>
          </c:tx>
          <c:spPr>
            <a:solidFill>
              <a:srgbClr val="E24B4A"/>
            </a:solidFill>
            <a:ln w="31750" cap="flat">
              <a:solidFill>
                <a:srgbClr val="E24B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24B4A"/>
              </a:solidFill>
              <a:ln w="9525" cap="flat">
                <a:solidFill>
                  <a:srgbClr val="E24B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</c:lvl>
              </c:multiLvlStrCache>
            </c:multiLvl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2171</c:v>
                </c:pt>
                <c:pt idx="1">
                  <c:v>2195</c:v>
                </c:pt>
                <c:pt idx="2">
                  <c:v>2177</c:v>
                </c:pt>
                <c:pt idx="3">
                  <c:v>2137</c:v>
                </c:pt>
                <c:pt idx="4">
                  <c:v>1868</c:v>
                </c:pt>
                <c:pt idx="5">
                  <c:v>1878</c:v>
                </c:pt>
              </c:numCache>
            </c:numRef>
          </c:val>
          <c:smooth val="1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OK</c:v>
                </c:pt>
              </c:strCache>
            </c:strRef>
          </c:tx>
          <c:spPr>
            <a:solidFill>
              <a:srgbClr val="888888"/>
            </a:solidFill>
            <a:ln w="31750" cap="flat">
              <a:solidFill>
                <a:srgbClr val="8888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88888"/>
              </a:solidFill>
              <a:ln w="9525" cap="flat">
                <a:solidFill>
                  <a:srgbClr val="8888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</c:lvl>
              </c:multiLvlStrCache>
            </c:multiLvlStrRef>
          </c:cat>
          <c:val>
            <c:numRef>
              <c:f>Sheet1!$G$2:$G$7</c:f>
              <c:numCache>
                <c:formatCode>General</c:formatCode>
                <c:ptCount val="6"/>
                <c:pt idx="0">
                  <c:v>1873</c:v>
                </c:pt>
                <c:pt idx="1">
                  <c:v>1858</c:v>
                </c:pt>
                <c:pt idx="2">
                  <c:v>1772</c:v>
                </c:pt>
                <c:pt idx="3">
                  <c:v>1867</c:v>
                </c:pt>
                <c:pt idx="4">
                  <c:v>1856</c:v>
                </c:pt>
                <c:pt idx="5">
                  <c:v>2023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Grad Rate (%)</c:v>
                </c:pt>
              </c:strCache>
            </c:strRef>
          </c:tx>
          <c:spPr>
            <a:solidFill>
              <a:srgbClr val="2E5FA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20,000+</c:v>
                  </c:pt>
                  <c:pt idx="1">
                    <c:v>10K–19,999</c:v>
                  </c:pt>
                  <c:pt idx="2">
                    <c:v>5,000–9,999</c:v>
                  </c:pt>
                  <c:pt idx="3">
                    <c:v>1,000–4,999</c:v>
                  </c:pt>
                  <c:pt idx="4">
                    <c:v>Under 1,000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65.8</c:v>
                </c:pt>
                <c:pt idx="1">
                  <c:v>40.8</c:v>
                </c:pt>
                <c:pt idx="2">
                  <c:v>45.1</c:v>
                </c:pt>
                <c:pt idx="3">
                  <c:v>39.6</c:v>
                </c:pt>
                <c:pt idx="4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Retention Rate (%)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20,000+</c:v>
                  </c:pt>
                  <c:pt idx="1">
                    <c:v>10K–19,999</c:v>
                  </c:pt>
                  <c:pt idx="2">
                    <c:v>5,000–9,999</c:v>
                  </c:pt>
                  <c:pt idx="3">
                    <c:v>1,000–4,999</c:v>
                  </c:pt>
                  <c:pt idx="4">
                    <c:v>Under 1,000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86.9</c:v>
                </c:pt>
                <c:pt idx="1">
                  <c:v>74.3</c:v>
                </c:pt>
                <c:pt idx="2">
                  <c:v>68.2</c:v>
                </c:pt>
                <c:pt idx="3">
                  <c:v>66.4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029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&amp;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Intelligence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02920" y="1965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8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Midwest Universities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02920" y="2724912"/>
            <a:ext cx="3200400" cy="3657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8346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public universities  ·  6 Midwest states  ·  2019–2024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trends  ·  Retention rates  ·  6-year graduation outcomes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35661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Samip Thakuri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Research Assistant  ·  CEDBR, Wichita State University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4315968"/>
            <a:ext cx="2011680" cy="23774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31596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DATA SOURCE: IPEDS / NCES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606040" y="4315968"/>
            <a:ext cx="2194560" cy="237744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4315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TOOLS: PYTHON · SQL · POWER BI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1888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3C8"/>
                </a:solidFill>
              </a:rPr>
              <a:t>Samip Thakuri  ·  CEDBR, Wichita State University  ·  2025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47472"/>
            <a:ext cx="173736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4747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EXECUTIVE SUMMARY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Key Findings at a Glance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reveals about Midwest public universities, 2019–2024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425196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737360"/>
            <a:ext cx="42519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" y="1865376"/>
            <a:ext cx="329184" cy="329184"/>
          </a:xfrm>
          <a:prstGeom prst="oval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" y="18653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189280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Iowa leads, Oklahoma lags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" y="2249424"/>
            <a:ext cx="3995928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Iowa averages 72.6% graduation rate — 37.5 points above Oklahoma, the region's lowest performer. Every top-10 institution has retention above 85%.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670048"/>
            <a:ext cx="425196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670048"/>
            <a:ext cx="4251960" cy="5029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" y="2798064"/>
            <a:ext cx="329184" cy="329184"/>
          </a:xfrm>
          <a:prstGeom prst="oval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279806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282549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Missouri in enrollment crisis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" y="3182112"/>
            <a:ext cx="3995928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Missouri institutions lost 36–53% of students since 2019. Missouri Western declined 53.3% — the steepest fall in the region.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602736"/>
            <a:ext cx="425196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602736"/>
            <a:ext cx="4251960" cy="50292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3776" y="3730752"/>
            <a:ext cx="329184" cy="329184"/>
          </a:xfrm>
          <a:prstGeom prst="oval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" y="37307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3758184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resilience — outcomes held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" y="4114800"/>
            <a:ext cx="3995928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dropped 7.8% during COVID but graduation rates actually improved (44.9→45.8%). The region absorbed the shock without outcome collapse.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1737360"/>
            <a:ext cx="425196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1737360"/>
            <a:ext cx="4251960" cy="5029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28616" y="1865376"/>
            <a:ext cx="329184" cy="329184"/>
          </a:xfrm>
          <a:prstGeom prst="oval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28616" y="18653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49240" y="189280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drives outcomes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28616" y="2249424"/>
            <a:ext cx="3995928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universities achieve 65.8% grad rates vs 39.6% at small institutions — a 26-point gap driven by student support resources, not class size.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00600" y="2670048"/>
            <a:ext cx="425196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0600" y="2670048"/>
            <a:ext cx="4251960" cy="502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28616" y="2798064"/>
            <a:ext cx="329184" cy="329184"/>
          </a:xfrm>
          <a:prstGeom prst="oval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28616" y="279806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49240" y="282549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predicts everything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28616" y="3182112"/>
            <a:ext cx="3995928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top-10 institution retains 85%+ of students. Retention is the single strongest leading indicator of 6-year graduation success.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1888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3C8"/>
                </a:solidFill>
              </a:rPr>
              <a:t>Samip Thakuri  ·  CEDBR, Wichita State University  ·  2025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47472"/>
            <a:ext cx="1737360" cy="256032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4747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METHODOLOGY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Design &amp; Data Pipeline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IPEDS files to interactive dashboard — a fully reproducible analytical workflow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664208"/>
            <a:ext cx="3931920" cy="297180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664208"/>
            <a:ext cx="3931920" cy="502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373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SCOPE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066544"/>
            <a:ext cx="594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43000" y="2093976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4-year universities analyzed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468880"/>
            <a:ext cx="594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43000" y="2496312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Midwest states (KS, MO, NE, OK, IA, CO)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2871216"/>
            <a:ext cx="594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43000" y="2898648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panel data (2019–2024)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3273552"/>
            <a:ext cx="594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43000" y="3300984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IPEDS raw CSV files downloaded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3675888"/>
            <a:ext cx="594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43000" y="370332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IPEDS surveys: HD + EF-D + GR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4078224"/>
            <a:ext cx="594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43000" y="4105656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 answered via SQL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0" y="1664208"/>
            <a:ext cx="4206240" cy="297180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0" y="1664208"/>
            <a:ext cx="420624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173736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PIPELINE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2066544"/>
            <a:ext cx="777240" cy="27432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2066544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01 ETL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559552" y="2093976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Pandas — load 18 IPEDS CSVs, filter, merge → SQLite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2532888"/>
            <a:ext cx="777240" cy="2743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253288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02 SQL EDA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559552" y="2560320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DBeaver — 6 business questions with documented findings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9160" y="2999232"/>
            <a:ext cx="7772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299923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03 Modeling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559552" y="3026664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+ Random Forest — graduation rate drivers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3465576"/>
            <a:ext cx="777240" cy="27432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3465576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04 Dashboard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559552" y="3493008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— 3-page interactive dashboard, published publicly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09160" y="3931920"/>
            <a:ext cx="777240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39319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05 Report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559552" y="3959352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brief + PowerPoint executive summary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1888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3C8"/>
                </a:solidFill>
              </a:rPr>
              <a:t>Samip Thakuri  ·  CEDBR, Wichita State University  ·  2025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47472"/>
            <a:ext cx="1737360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4747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FINDING 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universities lead on graduation rates?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Midwest public universities by 6-year graduation rate (2024)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65760" y="1664208"/>
          <a:ext cx="557784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126480" y="1664208"/>
            <a:ext cx="27432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126480" y="1664208"/>
            <a:ext cx="54864" cy="84124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54496" y="1737360"/>
            <a:ext cx="2560320" cy="4374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87.5%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6254496" y="2168957"/>
            <a:ext cx="2560320" cy="2187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grad rate — Air Force Academy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254496" y="2370856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· Rural · 7:1 student-faculty ratio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126480" y="2596896"/>
            <a:ext cx="27432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26480" y="2596896"/>
            <a:ext cx="54864" cy="841248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54496" y="2670048"/>
            <a:ext cx="2560320" cy="4374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85%+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6254496" y="3101645"/>
            <a:ext cx="2560320" cy="2187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in ALL top 10 institutions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254496" y="3303544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is the universal predictor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126480" y="3529584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126480" y="3529584"/>
            <a:ext cx="54864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54496" y="3602736"/>
            <a:ext cx="2560320" cy="4279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10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6254496" y="4023360"/>
            <a:ext cx="2560320" cy="213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institutions are in Colorado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254496" y="422087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Iowa leads by state avg at 72.6%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365760" y="4636008"/>
            <a:ext cx="8412480" cy="3657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5760" y="46634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Every top-10 institution retains over 85% of students. Size and location vary — but keeping students is what drives graduation.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1888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3C8"/>
                </a:solidFill>
              </a:rPr>
              <a:t>Samip Thakuri  ·  CEDBR, Wichita State University  ·  2025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47472"/>
            <a:ext cx="1737360" cy="25603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4747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FINDING 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Crisis: Who is losing students?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State-level trends and the institutions hit hardest (2019–2024)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65760" y="1664208"/>
          <a:ext cx="502920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365760" y="4343400"/>
            <a:ext cx="5029200" cy="256032"/>
          </a:xfrm>
          <a:prstGeom prst="rect">
            <a:avLst/>
          </a:prstGeom>
          <a:solidFill>
            <a:srgbClr val="FFF3CD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4361688"/>
            <a:ext cx="4846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Nebraska is the only state where enrollment has not recovered to pre-COVID levels — outcomes are declining with it.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577840" y="1664208"/>
            <a:ext cx="3200400" cy="260604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577840" y="1664208"/>
            <a:ext cx="3200400" cy="32004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23560" y="1673352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TOP 5 ENROLLMENT DECLINERS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623560" y="2084832"/>
            <a:ext cx="320040" cy="32004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23560" y="20848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989320" y="210312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Missouri Western State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989320" y="2276856"/>
            <a:ext cx="3657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092440" y="2121408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-53.3%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623560" y="2505456"/>
            <a:ext cx="320040" cy="32004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23560" y="25054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989320" y="2523744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Harris-Stowe State Univ.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989320" y="2697480"/>
            <a:ext cx="3657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8092440" y="2542032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-42.4%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623560" y="2926080"/>
            <a:ext cx="320040" cy="32004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23560" y="2926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989320" y="2944368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Lincoln University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989320" y="3118104"/>
            <a:ext cx="3657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8092440" y="2962656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-39.4%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623560" y="3346704"/>
            <a:ext cx="320040" cy="32004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623560" y="33467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989320" y="3364992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 Hays State Univ.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5989320" y="3538728"/>
            <a:ext cx="3657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8092440" y="3383280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-38.9%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5623560" y="3767328"/>
            <a:ext cx="320040" cy="32004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623560" y="37673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989320" y="3785616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 State College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5989320" y="3959352"/>
            <a:ext cx="3657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8092440" y="3803904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-38.6%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5577840" y="4343400"/>
            <a:ext cx="3200400" cy="256032"/>
          </a:xfrm>
          <a:prstGeom prst="rect">
            <a:avLst/>
          </a:prstGeom>
          <a:solidFill>
            <a:srgbClr val="FFE4E4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623560" y="4361688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5 hardest-hit institutions are in Missouri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1888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3C8"/>
                </a:solidFill>
              </a:rPr>
              <a:t>Samip Thakuri  ·  CEDBR, Wichita State University  ·  2025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47472"/>
            <a:ext cx="1737360" cy="256032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4747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FINDING 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Impact: Did outcomes recover?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enrollment, retention, and graduation rates across three periods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664208"/>
            <a:ext cx="2651760" cy="269748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664208"/>
            <a:ext cx="2651760" cy="402336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916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Pre-COVID (2019)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17627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2,652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02920" y="254203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Enrollment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834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72.0%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02920" y="320040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Retention Rate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4930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44.9%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02920" y="385876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6-Yr Grad Rate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0" y="1664208"/>
            <a:ext cx="2651760" cy="269748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1664208"/>
            <a:ext cx="2651760" cy="402336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16916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Years (2020–21)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217627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2,445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337560" y="254203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Enrollment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37560" y="2834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71.3%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337560" y="320040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Retention Rate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37560" y="34930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45.8%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3337560" y="385876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6-Yr Grad Rate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35040" y="1664208"/>
            <a:ext cx="2651760" cy="269748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1664208"/>
            <a:ext cx="2651760" cy="40233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16916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Post-COVID (2022–24)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72200" y="217627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2,627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172200" y="254203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Enrollment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72200" y="2834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71.8%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172200" y="320040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Retention Rate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72200" y="34930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45.8%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172200" y="385876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6-Yr Grad Rate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4434840"/>
            <a:ext cx="8412480" cy="274320"/>
          </a:xfrm>
          <a:prstGeom prst="rect">
            <a:avLst/>
          </a:prstGeom>
          <a:solidFill>
            <a:srgbClr val="CADCFC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45312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Enrollment dropped 7.8% during COVID but has recovered. Graduation rates actually IMPROVED during COVID — students who stayed enrolled completed at higher rates.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1888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3C8"/>
                </a:solidFill>
              </a:rPr>
              <a:t>Samip Thakuri  ·  CEDBR, Wichita State University  ·  2025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47472"/>
            <a:ext cx="173736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4747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FINDING 4 &amp; 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and Retention: The Hidden Drivers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institution size and retention rates determine graduation outcomes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65760" y="1664208"/>
          <a:ext cx="502920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5577840" y="1664208"/>
            <a:ext cx="3200400" cy="269748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77840" y="1664208"/>
            <a:ext cx="320040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23560" y="1673352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RETENTION BY STATE (2024)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623560" y="2066544"/>
            <a:ext cx="329184" cy="2926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23560" y="2066544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016752" y="2103120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86.7%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858000" y="212140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82–90%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623560" y="2432304"/>
            <a:ext cx="329184" cy="292608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23560" y="2432304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016752" y="2468880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77.1%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858000" y="24871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68–86%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623560" y="2798064"/>
            <a:ext cx="329184" cy="292608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23560" y="2798064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016752" y="2834640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75.7%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858000" y="28529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54–100%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623560" y="3163824"/>
            <a:ext cx="329184" cy="29260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23560" y="3163824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016752" y="3200400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73.8%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858000" y="32186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63–86%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5623560" y="3529584"/>
            <a:ext cx="329184" cy="29260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623560" y="3529584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016752" y="3566160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69.9%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858000" y="358444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0–100%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623560" y="3895344"/>
            <a:ext cx="329184" cy="29260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23560" y="3895344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OK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016752" y="3931920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66.9%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6858000" y="395020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54–90%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365760" y="4434840"/>
            <a:ext cx="8412480" cy="27432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57200" y="445312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universities outperform small ones by 26pp on grad rate — not because of lower student-faculty ratios, but because of stronger student support infrastructure.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1888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3C8"/>
                </a:solidFill>
              </a:rPr>
              <a:t>Samip Thakuri  ·  CEDBR, Wichita State University  ·  2025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SHOWCASE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— Regional Overview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85953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· Avg grad rate bar · Choropleth map · Dynamic insight cards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8229600" cy="3337560"/>
          </a:xfrm>
          <a:prstGeom prst="rect">
            <a:avLst/>
          </a:prstGeom>
          <a:solidFill>
            <a:srgbClr val="1A2E4A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88720"/>
            <a:ext cx="8229600" cy="420624"/>
          </a:xfrm>
          <a:prstGeom prst="rect">
            <a:avLst/>
          </a:prstGeom>
          <a:solidFill>
            <a:srgbClr val="E8760A"/>
          </a:solidFill>
          <a:ln w="12700">
            <a:solidFill>
              <a:srgbClr val="E876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25272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&amp; Outcome Intelligence — Midwest Universities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0" y="125272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D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Overview  |  Enrollment Trends  |  Institution Benchmarking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94360" y="1719072"/>
            <a:ext cx="1828800" cy="658368"/>
          </a:xfrm>
          <a:prstGeom prst="rect">
            <a:avLst/>
          </a:prstGeom>
          <a:solidFill>
            <a:srgbClr val="162236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74650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20574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Institutions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606040" y="1719072"/>
            <a:ext cx="1828800" cy="658368"/>
          </a:xfrm>
          <a:prstGeom prst="rect">
            <a:avLst/>
          </a:prstGeom>
          <a:solidFill>
            <a:srgbClr val="162236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174650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45.4%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606040" y="20574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Grad Rate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17720" y="1719072"/>
            <a:ext cx="1828800" cy="658368"/>
          </a:xfrm>
          <a:prstGeom prst="rect">
            <a:avLst/>
          </a:prstGeom>
          <a:solidFill>
            <a:srgbClr val="162236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74650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72.6%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617720" y="20574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Retention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629400" y="1719072"/>
            <a:ext cx="1828800" cy="658368"/>
          </a:xfrm>
          <a:prstGeom prst="rect">
            <a:avLst/>
          </a:prstGeom>
          <a:solidFill>
            <a:srgbClr val="162236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174650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629400" y="20574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Institutions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94360" y="2468880"/>
            <a:ext cx="3840480" cy="1920240"/>
          </a:xfrm>
          <a:prstGeom prst="rect">
            <a:avLst/>
          </a:prstGeom>
          <a:solidFill>
            <a:srgbClr val="162236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25146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Grad Rate by State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85800" y="2761488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987552" y="2788920"/>
            <a:ext cx="2336292" cy="12801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2999232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987552" y="3026664"/>
            <a:ext cx="1696212" cy="128016"/>
          </a:xfrm>
          <a:prstGeom prst="rect">
            <a:avLst/>
          </a:prstGeom>
          <a:solidFill>
            <a:srgbClr val="85B7EB"/>
          </a:solidFill>
          <a:ln w="12700">
            <a:solidFill>
              <a:srgbClr val="85B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3236976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987552" y="3264408"/>
            <a:ext cx="1536192" cy="128016"/>
          </a:xfrm>
          <a:prstGeom prst="rect">
            <a:avLst/>
          </a:prstGeom>
          <a:solidFill>
            <a:srgbClr val="85B7EB"/>
          </a:solidFill>
          <a:ln w="12700">
            <a:solidFill>
              <a:srgbClr val="85B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347472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987552" y="3502152"/>
            <a:ext cx="1504188" cy="128016"/>
          </a:xfrm>
          <a:prstGeom prst="rect">
            <a:avLst/>
          </a:prstGeom>
          <a:solidFill>
            <a:srgbClr val="85B7EB"/>
          </a:solidFill>
          <a:ln w="12700">
            <a:solidFill>
              <a:srgbClr val="85B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3712464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987552" y="3739896"/>
            <a:ext cx="1408176" cy="128016"/>
          </a:xfrm>
          <a:prstGeom prst="rect">
            <a:avLst/>
          </a:prstGeom>
          <a:solidFill>
            <a:srgbClr val="85B7EB"/>
          </a:solidFill>
          <a:ln w="12700">
            <a:solidFill>
              <a:srgbClr val="85B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3950208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987552" y="3977640"/>
            <a:ext cx="1120140" cy="128016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2468880"/>
            <a:ext cx="3840480" cy="1920240"/>
          </a:xfrm>
          <a:prstGeom prst="rect">
            <a:avLst/>
          </a:prstGeom>
          <a:solidFill>
            <a:srgbClr val="162236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25146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Grad Rate by State — Choropleth Map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754880" y="29260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Iowa = darkest green (72.6%)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Oklahoma = darkest red (35.1%)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Color intensity = grad rate ]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" y="4572000"/>
            <a:ext cx="2606040" cy="18288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572000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Dynamic insight cards update with slicers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246120" y="4572000"/>
            <a:ext cx="2606040" cy="18288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46120" y="4572000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Year / state / size dropdown filters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035040" y="4572000"/>
            <a:ext cx="2606040" cy="18288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35040" y="4572000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Color-coded: green = high, red = low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1888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3C8"/>
                </a:solidFill>
              </a:rPr>
              <a:t>Samip Thakuri  ·  CEDBR, Wichita State University  ·  2025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SHOWCASE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— Enrollment Trends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85953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trend lines · Top 10 / Bottom 10 toggle · Scatter plot · Peer benchmarking table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8229600" cy="3337560"/>
          </a:xfrm>
          <a:prstGeom prst="rect">
            <a:avLst/>
          </a:prstGeom>
          <a:solidFill>
            <a:srgbClr val="1A2E4A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88720"/>
            <a:ext cx="8229600" cy="420624"/>
          </a:xfrm>
          <a:prstGeom prst="rect">
            <a:avLst/>
          </a:prstGeom>
          <a:solidFill>
            <a:srgbClr val="E8760A"/>
          </a:solidFill>
          <a:ln w="12700">
            <a:solidFill>
              <a:srgbClr val="E876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252728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&amp; Outcome Intelligence — Midwest Universities  ·  Page 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1719072"/>
            <a:ext cx="4023360" cy="2651760"/>
          </a:xfrm>
          <a:prstGeom prst="rect">
            <a:avLst/>
          </a:prstGeom>
          <a:solidFill>
            <a:srgbClr val="162236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76479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Entering Students by Year and State (2019–2024)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85800" y="22860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Multi-line chart — 6 colored state lines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COVID period shaded · 2019→2024 trend ]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00600" y="1719072"/>
            <a:ext cx="1143000" cy="2743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71907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Top 10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035040" y="1719072"/>
            <a:ext cx="1234440" cy="274320"/>
          </a:xfrm>
          <a:prstGeom prst="rect">
            <a:avLst/>
          </a:prstGeom>
          <a:solidFill>
            <a:srgbClr val="162236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71907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24B4A"/>
                </a:solidFill>
              </a:rPr>
              <a:t>Bottom 10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800600" y="2084832"/>
            <a:ext cx="3566160" cy="2286000"/>
          </a:xfrm>
          <a:prstGeom prst="rect">
            <a:avLst/>
          </a:prstGeom>
          <a:solidFill>
            <a:srgbClr val="162236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130552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% Change 2019–24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92040" y="239572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Rocks Comm. College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675120" y="2459736"/>
            <a:ext cx="1463040" cy="12801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7432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Univ. Science Arts OK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675120" y="2807208"/>
            <a:ext cx="994867" cy="12801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09067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Wayne State College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675120" y="3154680"/>
            <a:ext cx="731520" cy="128016"/>
          </a:xfrm>
          <a:prstGeom prst="rect">
            <a:avLst/>
          </a:prstGeom>
          <a:solidFill>
            <a:srgbClr val="85B7EB"/>
          </a:solidFill>
          <a:ln w="12700">
            <a:solidFill>
              <a:srgbClr val="85B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43814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Missouri Western State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675120" y="3502152"/>
            <a:ext cx="555955" cy="128016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78561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 Hays State Univ.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675120" y="3849624"/>
            <a:ext cx="468173" cy="128016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572000"/>
            <a:ext cx="2606040" cy="18288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572000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Bookmark toggle: Top 10 Growing / Bottom 10 Declining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246120" y="4572000"/>
            <a:ext cx="2606040" cy="18288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46120" y="4572000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Scatter: every institution retention vs grad rate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035040" y="4572000"/>
            <a:ext cx="2606040" cy="18288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35040" y="4572000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Peer table with ▲▼→ retention icons + conditional formatting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1888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3C8"/>
                </a:solidFill>
              </a:rPr>
              <a:t>Samip Thakuri  ·  CEDBR, Wichita State University  ·  2025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47472"/>
            <a:ext cx="173736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4747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RECOMMENDATIONS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Recommendations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actionable interventions based on the analysis findings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664208"/>
            <a:ext cx="4160520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664208"/>
            <a:ext cx="416052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" y="1792224"/>
            <a:ext cx="347472" cy="347472"/>
          </a:xfrm>
          <a:prstGeom prst="oval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" y="17922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32688" y="181965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student retention infrastructure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" y="2194560"/>
            <a:ext cx="3913632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top-10 institution retains 85%+ of students. States with below-average retention (OK 66.9%, CO 69.9%) should prioritize advising, mental health, and financial aid retention programs — not just recruitment.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1664208"/>
            <a:ext cx="4160520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664208"/>
            <a:ext cx="4160520" cy="5029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82896" y="1792224"/>
            <a:ext cx="347472" cy="347472"/>
          </a:xfrm>
          <a:prstGeom prst="oval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82896" y="17922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21808" y="181965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intervention for Missouri institutions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82896" y="2194560"/>
            <a:ext cx="3913632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Missouri Western, Harris-Stowe, and Lincoln University have lost 40–53% of students. State policy must address this structural decline — through mergers, program realignment, or targeted emergency funding.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172968"/>
            <a:ext cx="4160520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172968"/>
            <a:ext cx="4160520" cy="50292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3776" y="3300984"/>
            <a:ext cx="347472" cy="347472"/>
          </a:xfrm>
          <a:prstGeom prst="oval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" y="33009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32688" y="332841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small institution capacity building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" y="3703320"/>
            <a:ext cx="3913632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institutions (under 5,000 students) achieve only 39.6% grad rates vs 65.8% for large universities. Resource-sharing partnerships and shared services models could close the gap significantly.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3172968"/>
            <a:ext cx="4160520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172968"/>
            <a:ext cx="4160520" cy="5029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82896" y="3300984"/>
            <a:ext cx="347472" cy="347472"/>
          </a:xfrm>
          <a:prstGeom prst="oval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82896" y="33009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21808" y="332841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Nebraska's enrollment trajectory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82896" y="3703320"/>
            <a:ext cx="3913632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Nebraska is the only state where post-COVID enrollment has not recovered. A statewide enrollment strategy targeting adult learners and workforce-aligned programs is needed before decline becomes irreversible.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822960"/>
            <a:ext cx="3200400" cy="3657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987552"/>
            <a:ext cx="54864" cy="5303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005840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drives graduation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7512" y="125272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institution in the top 10 retains 85%+ of students. Fix retention first — graduation follows.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700784"/>
            <a:ext cx="54864" cy="5303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1719072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Missouri needs intervention now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" y="19659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institutions lost 36–53% of entering students since 2019. This is structural, not a COVID artifact.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414016"/>
            <a:ext cx="54864" cy="5303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2432304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resilience is real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7512" y="2679192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recovered. Graduation rates improved during COVID. The region proved it can adapt under pressure.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127248"/>
            <a:ext cx="54864" cy="5303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3145536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Iowa is the regional benchmark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7512" y="3392424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across all metrics — 72.6% grad rate, 86.7% retention, zero at-risk institutions.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840480"/>
            <a:ext cx="54864" cy="5303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3858768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gap is a resource gap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7512" y="4105656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26-point graduation rate gap between large and small universities reflects unequal resources, not student quality.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4791456"/>
            <a:ext cx="9144000" cy="352044"/>
          </a:xfrm>
          <a:prstGeom prst="rect">
            <a:avLst/>
          </a:prstGeom>
          <a:solidFill>
            <a:srgbClr val="0F1E33"/>
          </a:solidFill>
          <a:ln w="12700">
            <a:solidFill>
              <a:srgbClr val="0F1E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80974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A3C8"/>
                </a:solidFill>
              </a:rPr>
              <a:t>Data: IPEDS / NCES (2019–2024)  ·  Tools: Python · SQL · Power BI  ·  Samip Thakuri — CEDBR, Wichita State University  ·  2025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Enrollment &amp; Outcome Intelligence — Midwest Universities</dc:title>
  <dc:subject>PptxGenJS Presentation</dc:subject>
  <dc:creator>Samip Thakuri</dc:creator>
  <cp:lastModifiedBy>Samip Thakuri</cp:lastModifiedBy>
  <cp:revision>1</cp:revision>
  <dcterms:created xsi:type="dcterms:W3CDTF">2026-03-31T17:54:53Z</dcterms:created>
  <dcterms:modified xsi:type="dcterms:W3CDTF">2026-03-31T17:54:53Z</dcterms:modified>
</cp:coreProperties>
</file>